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40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46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64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27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91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8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9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64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6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5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20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C428B-DFF4-4F63-B6F3-1BD8972225DB}" type="datetimeFigureOut">
              <a:rPr lang="ko-KR" altLang="en-US" smtClean="0"/>
              <a:t>2016-06-16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629D7-9DCC-4442-B215-F6AC1C99F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84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606" r="22513"/>
          <a:stretch/>
        </p:blipFill>
        <p:spPr>
          <a:xfrm>
            <a:off x="2122415" y="752940"/>
            <a:ext cx="6635330" cy="3998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490" y="204952"/>
            <a:ext cx="5904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Sheet </a:t>
            </a:r>
            <a:r>
              <a:rPr lang="ko-KR" altLang="en-US" smtClean="0"/>
              <a:t>이름 </a:t>
            </a:r>
            <a:r>
              <a:rPr lang="en-US" altLang="ko-KR" dirty="0" smtClean="0"/>
              <a:t>(1. </a:t>
            </a:r>
            <a:r>
              <a:rPr lang="ko-KR" altLang="en-US" smtClean="0"/>
              <a:t>응답스펙트럼예제</a:t>
            </a:r>
            <a:r>
              <a:rPr lang="en-US" altLang="ko-KR" dirty="0" smtClean="0"/>
              <a:t>)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0979" y="5171089"/>
            <a:ext cx="10239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엑셀 시트의 그림은 위 단계의 실제 예제입니다</a:t>
            </a:r>
            <a:r>
              <a:rPr lang="en-US" altLang="ko-KR" dirty="0" smtClean="0"/>
              <a:t>. </a:t>
            </a:r>
            <a:r>
              <a:rPr lang="ko-KR" altLang="en-US" smtClean="0"/>
              <a:t>각각의 </a:t>
            </a:r>
            <a:r>
              <a:rPr lang="en-US" altLang="ko-KR" dirty="0" smtClean="0"/>
              <a:t>frequency(0.05~1.2rad/sec) </a:t>
            </a:r>
            <a:r>
              <a:rPr lang="ko-KR" altLang="en-US" smtClean="0"/>
              <a:t>별로 계산된 하중전달함수</a:t>
            </a:r>
            <a:r>
              <a:rPr lang="en-US" altLang="ko-KR" dirty="0" smtClean="0"/>
              <a:t>(RAO)</a:t>
            </a:r>
            <a:r>
              <a:rPr lang="ko-KR" altLang="en-US" smtClean="0"/>
              <a:t>의 제곱에 </a:t>
            </a:r>
            <a:r>
              <a:rPr lang="en-US" altLang="ko-KR" dirty="0" smtClean="0"/>
              <a:t>wave spectrum(2 parameter PM spectrum)</a:t>
            </a:r>
            <a:r>
              <a:rPr lang="ko-KR" altLang="en-US" smtClean="0"/>
              <a:t>을 곱해주면 응답스펙트럼</a:t>
            </a:r>
            <a:r>
              <a:rPr lang="en-US" altLang="ko-KR" dirty="0" smtClean="0"/>
              <a:t>(response spectrum)</a:t>
            </a:r>
            <a:r>
              <a:rPr lang="ko-KR" altLang="en-US" smtClean="0"/>
              <a:t>이 계산됩니다</a:t>
            </a:r>
            <a:r>
              <a:rPr lang="en-US" altLang="ko-KR" dirty="0" smtClean="0"/>
              <a:t>. </a:t>
            </a:r>
            <a:r>
              <a:rPr lang="ko-KR" altLang="en-US" smtClean="0"/>
              <a:t>응답스펙트럼의 면적</a:t>
            </a:r>
            <a:r>
              <a:rPr lang="en-US" altLang="ko-KR" dirty="0" smtClean="0"/>
              <a:t>(M0)</a:t>
            </a:r>
            <a:r>
              <a:rPr lang="ko-KR" altLang="en-US" smtClean="0"/>
              <a:t>이 나중에 </a:t>
            </a:r>
            <a:r>
              <a:rPr lang="en-US" altLang="ko-KR" dirty="0" smtClean="0"/>
              <a:t>Short-term, Long-term</a:t>
            </a:r>
            <a:r>
              <a:rPr lang="ko-KR" altLang="en-US" smtClean="0"/>
              <a:t>계산에 사용됩니다</a:t>
            </a:r>
            <a:r>
              <a:rPr lang="en-US" altLang="ko-KR" dirty="0" smtClean="0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0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490" y="204952"/>
            <a:ext cx="5904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Sheet </a:t>
            </a:r>
            <a:r>
              <a:rPr lang="ko-KR" altLang="en-US" smtClean="0"/>
              <a:t>이름 </a:t>
            </a:r>
            <a:r>
              <a:rPr lang="en-US" altLang="ko-KR" dirty="0" smtClean="0"/>
              <a:t>(2. VBM RAO)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0979" y="5171089"/>
            <a:ext cx="10239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KR 3D</a:t>
            </a:r>
            <a:r>
              <a:rPr lang="ko-KR" altLang="en-US" smtClean="0"/>
              <a:t>에서 계산된 </a:t>
            </a:r>
            <a:r>
              <a:rPr lang="en-US" altLang="ko-KR" dirty="0" smtClean="0"/>
              <a:t>VBM RAO</a:t>
            </a:r>
            <a:r>
              <a:rPr lang="ko-KR" altLang="en-US" smtClean="0"/>
              <a:t>입니다</a:t>
            </a:r>
            <a:r>
              <a:rPr lang="en-US" altLang="ko-KR" dirty="0" smtClean="0"/>
              <a:t>. </a:t>
            </a:r>
            <a:r>
              <a:rPr lang="ko-KR" altLang="en-US" smtClean="0"/>
              <a:t>가로축은 입사각</a:t>
            </a:r>
            <a:r>
              <a:rPr lang="en-US" altLang="ko-KR" dirty="0" smtClean="0"/>
              <a:t>(0~180</a:t>
            </a:r>
            <a:r>
              <a:rPr lang="ko-KR" altLang="en-US" smtClean="0"/>
              <a:t>도</a:t>
            </a:r>
            <a:r>
              <a:rPr lang="en-US" altLang="ko-KR" dirty="0" smtClean="0"/>
              <a:t>, 30</a:t>
            </a:r>
            <a:r>
              <a:rPr lang="ko-KR" altLang="en-US" smtClean="0"/>
              <a:t>도간격</a:t>
            </a:r>
            <a:r>
              <a:rPr lang="en-US" altLang="ko-KR" dirty="0" smtClean="0"/>
              <a:t>) </a:t>
            </a:r>
            <a:r>
              <a:rPr lang="ko-KR" altLang="en-US" smtClean="0"/>
              <a:t>세로축은 </a:t>
            </a:r>
            <a:r>
              <a:rPr lang="en-US" altLang="ko-KR" dirty="0" smtClean="0"/>
              <a:t>frequency(0.05~1.2rad/sec, 0.02875</a:t>
            </a:r>
            <a:r>
              <a:rPr lang="ko-KR" altLang="en-US" smtClean="0"/>
              <a:t>간격</a:t>
            </a:r>
            <a:r>
              <a:rPr lang="en-US" altLang="ko-KR" dirty="0" smtClean="0"/>
              <a:t>)</a:t>
            </a:r>
            <a:r>
              <a:rPr lang="ko-KR" altLang="en-US" smtClean="0"/>
              <a:t>입니다</a:t>
            </a:r>
            <a:r>
              <a:rPr lang="en-US" altLang="ko-KR" dirty="0" smtClean="0"/>
              <a:t>. </a:t>
            </a:r>
            <a:r>
              <a:rPr lang="ko-KR" altLang="en-US" smtClean="0"/>
              <a:t>좌측은 무차원</a:t>
            </a:r>
            <a:r>
              <a:rPr lang="en-US" altLang="ko-KR" dirty="0" smtClean="0"/>
              <a:t>, </a:t>
            </a:r>
            <a:r>
              <a:rPr lang="ko-KR" altLang="en-US" smtClean="0"/>
              <a:t>우측은 차원화 시킨 값이고 다음 페이지부터 차원화 시킨 </a:t>
            </a:r>
            <a:r>
              <a:rPr lang="en-US" altLang="ko-KR" dirty="0" smtClean="0"/>
              <a:t>RAO</a:t>
            </a:r>
            <a:r>
              <a:rPr lang="ko-KR" altLang="en-US" smtClean="0"/>
              <a:t>값으로 응답스펙트럼을 계산하였습니다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310" y="733174"/>
            <a:ext cx="7200000" cy="395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489" y="204952"/>
            <a:ext cx="961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Sheet </a:t>
            </a:r>
            <a:r>
              <a:rPr lang="ko-KR" altLang="en-US" smtClean="0"/>
              <a:t>이름 </a:t>
            </a:r>
            <a:r>
              <a:rPr lang="en-US" altLang="ko-KR" dirty="0" smtClean="0"/>
              <a:t>(3. M0_VBM_0, </a:t>
            </a:r>
            <a:r>
              <a:rPr lang="en-US" altLang="ko-KR" dirty="0" smtClean="0"/>
              <a:t>3. M0_VBM_30,… 3. M0_VBM_180)</a:t>
            </a:r>
            <a:r>
              <a:rPr lang="en-US" altLang="ko-KR" dirty="0" smtClean="0"/>
              <a:t> 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183954" y="956647"/>
            <a:ext cx="52941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Wave scatter diagram</a:t>
            </a:r>
            <a:r>
              <a:rPr lang="ko-KR" altLang="en-US" smtClean="0"/>
              <a:t>에 존재하는 각각의 해상상태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Hs,Tz</a:t>
            </a:r>
            <a:r>
              <a:rPr lang="en-US" altLang="ko-KR" dirty="0" smtClean="0"/>
              <a:t>)</a:t>
            </a:r>
            <a:r>
              <a:rPr lang="ko-KR" altLang="en-US" smtClean="0"/>
              <a:t>에 대한 </a:t>
            </a:r>
            <a:r>
              <a:rPr lang="en-US" altLang="ko-KR" dirty="0" smtClean="0"/>
              <a:t>response spectrum</a:t>
            </a:r>
            <a:r>
              <a:rPr lang="ko-KR" altLang="en-US" smtClean="0"/>
              <a:t>을 각각의 </a:t>
            </a:r>
            <a:r>
              <a:rPr lang="en-US" altLang="ko-KR" dirty="0" smtClean="0"/>
              <a:t>heading angle</a:t>
            </a:r>
            <a:r>
              <a:rPr lang="ko-KR" altLang="en-US" smtClean="0"/>
              <a:t>별로 구해줍니다</a:t>
            </a:r>
            <a:r>
              <a:rPr lang="en-US" altLang="ko-KR" dirty="0" smtClean="0"/>
              <a:t>. </a:t>
            </a:r>
            <a:r>
              <a:rPr lang="ko-KR" altLang="en-US" smtClean="0"/>
              <a:t>옆의 예제는 </a:t>
            </a:r>
            <a:r>
              <a:rPr lang="en-US" altLang="ko-KR" dirty="0" smtClean="0"/>
              <a:t>VBM 0</a:t>
            </a:r>
            <a:r>
              <a:rPr lang="ko-KR" altLang="en-US" smtClean="0"/>
              <a:t>도</a:t>
            </a:r>
            <a:r>
              <a:rPr lang="en-US" altLang="ko-KR" dirty="0" smtClean="0"/>
              <a:t>(following sea)sheet</a:t>
            </a:r>
            <a:r>
              <a:rPr lang="ko-KR" altLang="en-US" smtClean="0"/>
              <a:t>에서 </a:t>
            </a:r>
            <a:r>
              <a:rPr lang="en-US" altLang="ko-KR" dirty="0" smtClean="0"/>
              <a:t>Hs=0.5, </a:t>
            </a:r>
            <a:r>
              <a:rPr lang="en-US" altLang="ko-KR" dirty="0" err="1" smtClean="0"/>
              <a:t>Tz</a:t>
            </a:r>
            <a:r>
              <a:rPr lang="ko-KR" altLang="en-US" smtClean="0"/>
              <a:t>는 </a:t>
            </a:r>
            <a:r>
              <a:rPr lang="en-US" altLang="ko-KR" dirty="0" smtClean="0"/>
              <a:t>3.5~18.5</a:t>
            </a:r>
            <a:r>
              <a:rPr lang="ko-KR" altLang="en-US" smtClean="0"/>
              <a:t>초까지의 </a:t>
            </a:r>
            <a:r>
              <a:rPr lang="en-US" altLang="ko-KR" dirty="0" smtClean="0"/>
              <a:t>response </a:t>
            </a:r>
            <a:r>
              <a:rPr lang="en-US" altLang="ko-KR" dirty="0" err="1" smtClean="0"/>
              <a:t>spectru</a:t>
            </a:r>
            <a:r>
              <a:rPr lang="ko-KR" altLang="en-US" smtClean="0"/>
              <a:t>의 면적</a:t>
            </a:r>
            <a:r>
              <a:rPr lang="en-US" altLang="ko-KR" dirty="0" smtClean="0"/>
              <a:t>(M0)</a:t>
            </a:r>
            <a:r>
              <a:rPr lang="ko-KR" altLang="en-US" smtClean="0"/>
              <a:t>를 구해주는 예제입니다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그림에서 아래쪽의 빨간색 칸은 </a:t>
            </a:r>
            <a:r>
              <a:rPr lang="en-US" altLang="ko-KR" dirty="0" smtClean="0"/>
              <a:t>VBM 0</a:t>
            </a:r>
            <a:r>
              <a:rPr lang="ko-KR" altLang="en-US" smtClean="0"/>
              <a:t>도</a:t>
            </a:r>
            <a:r>
              <a:rPr lang="en-US" altLang="ko-KR" dirty="0" smtClean="0"/>
              <a:t>, Hs=0.5m, </a:t>
            </a:r>
            <a:r>
              <a:rPr lang="en-US" altLang="ko-KR" dirty="0" err="1" smtClean="0"/>
              <a:t>Tz</a:t>
            </a:r>
            <a:r>
              <a:rPr lang="en-US" altLang="ko-KR" dirty="0" smtClean="0"/>
              <a:t>=3.5s</a:t>
            </a:r>
            <a:r>
              <a:rPr lang="ko-KR" altLang="en-US" smtClean="0"/>
              <a:t>에서의 응답스펙트럼의 면적입니다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바로 옆 파란색 칸은 </a:t>
            </a:r>
            <a:r>
              <a:rPr lang="en-US" altLang="ko-KR" dirty="0" smtClean="0"/>
              <a:t>VBM 0</a:t>
            </a:r>
            <a:r>
              <a:rPr lang="ko-KR" altLang="en-US" smtClean="0"/>
              <a:t>도</a:t>
            </a:r>
            <a:r>
              <a:rPr lang="en-US" altLang="ko-KR" dirty="0" smtClean="0"/>
              <a:t>, Hs=0.5m, </a:t>
            </a:r>
            <a:r>
              <a:rPr lang="en-US" altLang="ko-KR" dirty="0" err="1" smtClean="0"/>
              <a:t>Tz</a:t>
            </a:r>
            <a:r>
              <a:rPr lang="en-US" altLang="ko-KR" dirty="0" smtClean="0"/>
              <a:t>=4.5s</a:t>
            </a:r>
            <a:r>
              <a:rPr lang="ko-KR" altLang="en-US" smtClean="0"/>
              <a:t>의 응답스펙트럼의 면적이 되겠네요</a:t>
            </a:r>
            <a:r>
              <a:rPr lang="en-US" altLang="ko-KR" dirty="0" smtClean="0"/>
              <a:t>..</a:t>
            </a:r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이런식으로</a:t>
            </a:r>
            <a:r>
              <a:rPr lang="ko-KR" altLang="en-US" dirty="0" smtClean="0"/>
              <a:t> </a:t>
            </a:r>
            <a:r>
              <a:rPr lang="en-US" altLang="ko-KR" dirty="0" smtClean="0"/>
              <a:t>3.M0_VBM_~</a:t>
            </a:r>
            <a:r>
              <a:rPr lang="ko-KR" altLang="en-US" smtClean="0"/>
              <a:t>으로 시작되는 엑셀 시트에서 입사각 </a:t>
            </a:r>
            <a:r>
              <a:rPr lang="en-US" altLang="ko-KR" dirty="0" smtClean="0"/>
              <a:t>30</a:t>
            </a:r>
            <a:r>
              <a:rPr lang="ko-KR" altLang="en-US" smtClean="0"/>
              <a:t>도</a:t>
            </a:r>
            <a:r>
              <a:rPr lang="en-US" altLang="ko-KR" dirty="0" smtClean="0"/>
              <a:t>, 60</a:t>
            </a:r>
            <a:r>
              <a:rPr lang="ko-KR" altLang="en-US" smtClean="0"/>
              <a:t>도</a:t>
            </a:r>
            <a:r>
              <a:rPr lang="en-US" altLang="ko-KR" dirty="0" smtClean="0"/>
              <a:t>..180</a:t>
            </a:r>
            <a:r>
              <a:rPr lang="ko-KR" altLang="en-US" smtClean="0"/>
              <a:t>도까지의 응답스펙트럼의 면적</a:t>
            </a:r>
            <a:r>
              <a:rPr lang="en-US" altLang="ko-KR" dirty="0" smtClean="0"/>
              <a:t>(M0)</a:t>
            </a:r>
            <a:r>
              <a:rPr lang="ko-KR" altLang="en-US" smtClean="0"/>
              <a:t>를 구해줍니다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92" y="701566"/>
            <a:ext cx="5542796" cy="6006662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710559" y="6574221"/>
            <a:ext cx="804041" cy="141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501462" y="6584728"/>
            <a:ext cx="804041" cy="1418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31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6426" y="102754"/>
            <a:ext cx="961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Sheet </a:t>
            </a:r>
            <a:r>
              <a:rPr lang="ko-KR" altLang="en-US" smtClean="0"/>
              <a:t>이름 </a:t>
            </a:r>
            <a:r>
              <a:rPr lang="en-US" altLang="ko-KR" dirty="0" smtClean="0"/>
              <a:t>(4. M0 sum</a:t>
            </a:r>
            <a:r>
              <a:rPr lang="en-US" altLang="ko-KR" dirty="0" smtClean="0"/>
              <a:t>)</a:t>
            </a:r>
            <a:r>
              <a:rPr lang="en-US" altLang="ko-KR" dirty="0" smtClean="0"/>
              <a:t> 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1642" y="3925737"/>
            <a:ext cx="10910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Wave scatter diagram</a:t>
            </a:r>
            <a:r>
              <a:rPr lang="ko-KR" altLang="en-US" smtClean="0"/>
              <a:t>에서 </a:t>
            </a:r>
            <a:r>
              <a:rPr lang="en-US" altLang="ko-KR" dirty="0" smtClean="0"/>
              <a:t>Hs</a:t>
            </a:r>
            <a:r>
              <a:rPr lang="ko-KR" altLang="en-US" smtClean="0"/>
              <a:t>와 </a:t>
            </a:r>
            <a:r>
              <a:rPr lang="en-US" altLang="ko-KR" dirty="0" err="1" smtClean="0"/>
              <a:t>Tz</a:t>
            </a:r>
            <a:r>
              <a:rPr lang="ko-KR" altLang="en-US" smtClean="0"/>
              <a:t>는 파의 방향성이 고려되지 않았기 때문에 </a:t>
            </a:r>
            <a:r>
              <a:rPr lang="en-US" altLang="ko-KR" dirty="0" smtClean="0"/>
              <a:t>spreading function</a:t>
            </a:r>
            <a:r>
              <a:rPr lang="ko-KR" altLang="en-US" smtClean="0"/>
              <a:t>을 적용해야 하며 </a:t>
            </a:r>
            <a:r>
              <a:rPr lang="en-US" altLang="ko-KR" dirty="0" smtClean="0"/>
              <a:t>Spreading functio</a:t>
            </a:r>
            <a:r>
              <a:rPr lang="en-US" altLang="ko-KR" dirty="0" smtClean="0"/>
              <a:t>n</a:t>
            </a:r>
            <a:r>
              <a:rPr lang="ko-KR" altLang="en-US" smtClean="0"/>
              <a:t>을 직접 적용하는 대신</a:t>
            </a:r>
            <a:r>
              <a:rPr lang="ko-KR" altLang="en-US" smtClean="0"/>
              <a:t> 아래와 같이 </a:t>
            </a:r>
            <a:r>
              <a:rPr lang="en-US" altLang="ko-KR" dirty="0" smtClean="0"/>
              <a:t>simple formula</a:t>
            </a:r>
            <a:r>
              <a:rPr lang="ko-KR" altLang="en-US" smtClean="0"/>
              <a:t>를 적용할 수 있습니다</a:t>
            </a:r>
            <a:r>
              <a:rPr lang="en-US" altLang="ko-KR" dirty="0" smtClean="0"/>
              <a:t>. </a:t>
            </a:r>
            <a:r>
              <a:rPr lang="ko-KR" altLang="en-US" smtClean="0"/>
              <a:t>각각의 </a:t>
            </a:r>
            <a:r>
              <a:rPr lang="en-US" altLang="ko-KR" dirty="0" smtClean="0"/>
              <a:t>heading angle </a:t>
            </a:r>
            <a:r>
              <a:rPr lang="ko-KR" altLang="en-US" smtClean="0"/>
              <a:t>별로</a:t>
            </a:r>
            <a:r>
              <a:rPr lang="en-US" altLang="ko-KR" dirty="0" smtClean="0"/>
              <a:t> sea state</a:t>
            </a:r>
            <a:r>
              <a:rPr lang="ko-KR" altLang="en-US" smtClean="0"/>
              <a:t>에서 </a:t>
            </a:r>
            <a:r>
              <a:rPr lang="en-US" altLang="ko-KR" dirty="0" smtClean="0"/>
              <a:t>Mo</a:t>
            </a:r>
            <a:r>
              <a:rPr lang="ko-KR" altLang="en-US" smtClean="0"/>
              <a:t>값을 </a:t>
            </a:r>
            <a:r>
              <a:rPr lang="en-US" altLang="ko-KR" dirty="0" smtClean="0"/>
              <a:t>summation</a:t>
            </a:r>
            <a:r>
              <a:rPr lang="ko-KR" altLang="en-US" smtClean="0"/>
              <a:t>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8" y="469760"/>
            <a:ext cx="11668125" cy="350520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94185" y="1161527"/>
            <a:ext cx="804041" cy="141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820" y="4845091"/>
            <a:ext cx="3506575" cy="2012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타원 11"/>
          <p:cNvSpPr/>
          <p:nvPr/>
        </p:nvSpPr>
        <p:spPr>
          <a:xfrm>
            <a:off x="2037347" y="569495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5154908" y="569494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8416994" y="569493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61942" y="4965935"/>
            <a:ext cx="6158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위는 입사각 </a:t>
            </a:r>
            <a:r>
              <a:rPr lang="en-US" altLang="ko-KR" dirty="0" smtClean="0"/>
              <a:t>0</a:t>
            </a:r>
            <a:r>
              <a:rPr lang="ko-KR" altLang="en-US" smtClean="0"/>
              <a:t>도에서의 계산 예제로써 </a:t>
            </a:r>
            <a:r>
              <a:rPr lang="en-US" altLang="ko-KR" dirty="0" smtClean="0"/>
              <a:t>0</a:t>
            </a:r>
            <a:r>
              <a:rPr lang="ko-KR" altLang="en-US" smtClean="0"/>
              <a:t>도에서의 </a:t>
            </a:r>
            <a:r>
              <a:rPr lang="en-US" altLang="ko-KR" dirty="0" smtClean="0"/>
              <a:t>M0</a:t>
            </a:r>
            <a:r>
              <a:rPr lang="ko-KR" altLang="en-US" smtClean="0"/>
              <a:t>에 </a:t>
            </a:r>
            <a:r>
              <a:rPr lang="en-US" altLang="ko-KR" dirty="0" smtClean="0"/>
              <a:t>4</a:t>
            </a:r>
            <a:r>
              <a:rPr lang="ko-KR" altLang="en-US" smtClean="0"/>
              <a:t>배 </a:t>
            </a:r>
            <a:r>
              <a:rPr lang="en-US" altLang="ko-KR" dirty="0" smtClean="0"/>
              <a:t>30</a:t>
            </a:r>
            <a:r>
              <a:rPr lang="ko-KR" altLang="en-US" smtClean="0"/>
              <a:t>도는 </a:t>
            </a:r>
            <a:r>
              <a:rPr lang="en-US" altLang="ko-KR" dirty="0" smtClean="0"/>
              <a:t>3</a:t>
            </a:r>
            <a:r>
              <a:rPr lang="ko-KR" altLang="en-US" smtClean="0"/>
              <a:t>배 </a:t>
            </a:r>
            <a:r>
              <a:rPr lang="en-US" altLang="ko-KR" dirty="0" smtClean="0"/>
              <a:t>60</a:t>
            </a:r>
            <a:r>
              <a:rPr lang="ko-KR" altLang="en-US" smtClean="0"/>
              <a:t>도는 </a:t>
            </a:r>
            <a:r>
              <a:rPr lang="en-US" altLang="ko-KR" dirty="0" smtClean="0"/>
              <a:t>2</a:t>
            </a:r>
            <a:r>
              <a:rPr lang="ko-KR" altLang="en-US" smtClean="0"/>
              <a:t>배를 하여 </a:t>
            </a:r>
            <a:r>
              <a:rPr lang="en-US" altLang="ko-KR" dirty="0" smtClean="0"/>
              <a:t>9</a:t>
            </a:r>
            <a:r>
              <a:rPr lang="ko-KR" altLang="en-US" smtClean="0"/>
              <a:t>로 나눠준 예입니다</a:t>
            </a:r>
            <a:r>
              <a:rPr lang="en-US" altLang="ko-KR" dirty="0" smtClean="0"/>
              <a:t>.</a:t>
            </a:r>
            <a:r>
              <a:rPr lang="ko-KR" altLang="en-US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510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89" y="576358"/>
            <a:ext cx="11077575" cy="3457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6426" y="102754"/>
            <a:ext cx="961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Sheet </a:t>
            </a:r>
            <a:r>
              <a:rPr lang="ko-KR" altLang="en-US" smtClean="0"/>
              <a:t>이름 </a:t>
            </a:r>
            <a:r>
              <a:rPr lang="en-US" altLang="ko-KR" dirty="0" smtClean="0"/>
              <a:t>(5. </a:t>
            </a:r>
            <a:r>
              <a:rPr lang="ko-KR" altLang="en-US" smtClean="0"/>
              <a:t>장기값예측</a:t>
            </a:r>
            <a:r>
              <a:rPr lang="en-US" altLang="ko-KR" dirty="0" smtClean="0"/>
              <a:t>) (1/2) 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6426" y="4087549"/>
            <a:ext cx="10910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일단 </a:t>
            </a:r>
            <a:r>
              <a:rPr lang="en-US" altLang="ko-KR" dirty="0" smtClean="0"/>
              <a:t>short-term</a:t>
            </a:r>
            <a:r>
              <a:rPr lang="ko-KR" altLang="en-US" smtClean="0"/>
              <a:t>결과입니다</a:t>
            </a:r>
            <a:r>
              <a:rPr lang="en-US" altLang="ko-KR" dirty="0" smtClean="0"/>
              <a:t>. </a:t>
            </a:r>
            <a:r>
              <a:rPr lang="ko-KR" altLang="en-US" smtClean="0"/>
              <a:t>앞에서 구한 각각의  </a:t>
            </a:r>
            <a:r>
              <a:rPr lang="en-US" altLang="ko-KR" dirty="0" smtClean="0"/>
              <a:t>heading angle</a:t>
            </a:r>
            <a:r>
              <a:rPr lang="ko-KR" altLang="en-US"/>
              <a:t>별</a:t>
            </a:r>
            <a:r>
              <a:rPr lang="en-US" altLang="ko-KR" dirty="0" smtClean="0"/>
              <a:t> sea state</a:t>
            </a:r>
            <a:r>
              <a:rPr lang="ko-KR" altLang="en-US" smtClean="0"/>
              <a:t>에서의 </a:t>
            </a:r>
            <a:r>
              <a:rPr lang="en-US" altLang="ko-KR" dirty="0" smtClean="0"/>
              <a:t>M0</a:t>
            </a:r>
            <a:r>
              <a:rPr lang="ko-KR" altLang="en-US" smtClean="0"/>
              <a:t>값을 </a:t>
            </a:r>
            <a:r>
              <a:rPr lang="en-US" altLang="ko-KR" dirty="0" smtClean="0"/>
              <a:t>summation</a:t>
            </a:r>
            <a:r>
              <a:rPr lang="ko-KR" altLang="en-US" smtClean="0"/>
              <a:t>해줍니다</a:t>
            </a:r>
            <a:r>
              <a:rPr lang="en-US" altLang="ko-KR" dirty="0" smtClean="0"/>
              <a:t>. </a:t>
            </a:r>
            <a:r>
              <a:rPr lang="ko-KR" altLang="en-US" smtClean="0"/>
              <a:t>더해주는 포션은 아래와 같습니다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220" y="5064495"/>
            <a:ext cx="6210369" cy="1146306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>
          <a:xfrm>
            <a:off x="3528267" y="587762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4732267" y="604917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5976497" y="587762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7220727" y="576358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8464957" y="604916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11024245" y="587762"/>
            <a:ext cx="208548" cy="20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2" y="472086"/>
            <a:ext cx="10572750" cy="3486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6426" y="102754"/>
            <a:ext cx="9616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Sheet </a:t>
            </a:r>
            <a:r>
              <a:rPr lang="ko-KR" altLang="en-US" smtClean="0"/>
              <a:t>이름 </a:t>
            </a:r>
            <a:r>
              <a:rPr lang="en-US" altLang="ko-KR" dirty="0" smtClean="0"/>
              <a:t>(5. </a:t>
            </a:r>
            <a:r>
              <a:rPr lang="ko-KR" altLang="en-US" smtClean="0"/>
              <a:t>장기값예측</a:t>
            </a:r>
            <a:r>
              <a:rPr lang="en-US" altLang="ko-KR" dirty="0" smtClean="0"/>
              <a:t>) (2/2) 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1642" y="4150325"/>
            <a:ext cx="10910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빨간 박스내의 </a:t>
            </a:r>
            <a:r>
              <a:rPr lang="en-US" altLang="ko-KR" dirty="0" smtClean="0"/>
              <a:t>Target</a:t>
            </a:r>
            <a:r>
              <a:rPr lang="ko-KR" altLang="en-US" smtClean="0"/>
              <a:t>이라고 씌여있는값은 </a:t>
            </a:r>
            <a:r>
              <a:rPr lang="en-US" altLang="ko-KR" dirty="0" smtClean="0"/>
              <a:t>KR-3D</a:t>
            </a:r>
            <a:r>
              <a:rPr lang="ko-KR" altLang="en-US" smtClean="0"/>
              <a:t>에서 나온 롱텀값이구요</a:t>
            </a:r>
            <a:r>
              <a:rPr lang="en-US" altLang="ko-KR" dirty="0" smtClean="0"/>
              <a:t>..</a:t>
            </a:r>
            <a:r>
              <a:rPr lang="ko-KR" altLang="en-US" smtClean="0"/>
              <a:t>파란색 칸의 </a:t>
            </a:r>
            <a:r>
              <a:rPr lang="en-US" altLang="ko-KR" dirty="0" smtClean="0"/>
              <a:t>Target</a:t>
            </a:r>
            <a:r>
              <a:rPr lang="ko-KR" altLang="en-US"/>
              <a:t>은</a:t>
            </a:r>
            <a:r>
              <a:rPr lang="ko-KR" altLang="en-US" smtClean="0"/>
              <a:t> 위의 셀 각각의 총 합이 </a:t>
            </a:r>
            <a:r>
              <a:rPr lang="en-US" altLang="ko-KR" dirty="0" smtClean="0"/>
              <a:t>10^-8</a:t>
            </a:r>
            <a:r>
              <a:rPr lang="ko-KR" altLang="en-US" smtClean="0"/>
              <a:t>이 되어야 한다는 값입니다</a:t>
            </a:r>
            <a:r>
              <a:rPr lang="en-US" altLang="ko-KR" dirty="0" smtClean="0"/>
              <a:t>. </a:t>
            </a:r>
            <a:r>
              <a:rPr lang="ko-KR" altLang="en-US" smtClean="0"/>
              <a:t>빨간색 칸의 </a:t>
            </a:r>
            <a:r>
              <a:rPr lang="en-US" altLang="ko-KR" dirty="0" smtClean="0"/>
              <a:t>LTM(12,805,000knm)</a:t>
            </a:r>
            <a:r>
              <a:rPr lang="ko-KR" altLang="en-US" smtClean="0"/>
              <a:t>를 앞의식 </a:t>
            </a:r>
            <a:r>
              <a:rPr lang="en-US" altLang="ko-KR" dirty="0" smtClean="0"/>
              <a:t>x</a:t>
            </a:r>
            <a:r>
              <a:rPr lang="ko-KR" altLang="en-US" smtClean="0"/>
              <a:t>에 넣었을때의 총합이 파란색칸의 </a:t>
            </a:r>
            <a:r>
              <a:rPr lang="en-US" altLang="ko-KR" dirty="0" smtClean="0"/>
              <a:t>sum (10^-8)</a:t>
            </a:r>
            <a:r>
              <a:rPr lang="ko-KR" altLang="en-US" smtClean="0"/>
              <a:t>값이 나옵니다</a:t>
            </a:r>
            <a:r>
              <a:rPr lang="en-US" altLang="ko-KR" dirty="0" smtClean="0"/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롱텀값의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목표값과</a:t>
            </a:r>
            <a:r>
              <a:rPr lang="ko-KR" altLang="en-US" dirty="0" smtClean="0"/>
              <a:t> 찾은 값의 오차가 </a:t>
            </a:r>
            <a:r>
              <a:rPr lang="en-US" altLang="ko-KR" dirty="0"/>
              <a:t>6</a:t>
            </a:r>
            <a:r>
              <a:rPr lang="en-US" altLang="ko-KR" dirty="0" smtClean="0"/>
              <a:t>%</a:t>
            </a:r>
            <a:r>
              <a:rPr lang="ko-KR" altLang="en-US" smtClean="0"/>
              <a:t>정도 되는데 </a:t>
            </a:r>
            <a:r>
              <a:rPr lang="en-US" altLang="ko-KR" dirty="0" smtClean="0"/>
              <a:t>response spectrum</a:t>
            </a:r>
            <a:r>
              <a:rPr lang="ko-KR" altLang="en-US" smtClean="0"/>
              <a:t>의 면적을 구할때의</a:t>
            </a:r>
            <a:r>
              <a:rPr lang="en-US" altLang="ko-KR" dirty="0" smtClean="0"/>
              <a:t> </a:t>
            </a:r>
            <a:r>
              <a:rPr lang="ko-KR" altLang="en-US" smtClean="0"/>
              <a:t>엑셀계산의 한계와 </a:t>
            </a:r>
            <a:r>
              <a:rPr lang="en-US" altLang="ko-KR" dirty="0" smtClean="0"/>
              <a:t>spreading function</a:t>
            </a:r>
            <a:r>
              <a:rPr lang="ko-KR" altLang="en-US" smtClean="0"/>
              <a:t>을 </a:t>
            </a:r>
            <a:r>
              <a:rPr lang="en-US" altLang="ko-KR" dirty="0" smtClean="0"/>
              <a:t>simplified</a:t>
            </a:r>
            <a:r>
              <a:rPr lang="ko-KR" altLang="en-US" smtClean="0"/>
              <a:t>하게 적용하여 </a:t>
            </a:r>
            <a:r>
              <a:rPr lang="en-US" altLang="ko-KR" dirty="0" smtClean="0"/>
              <a:t>KR3D</a:t>
            </a:r>
            <a:r>
              <a:rPr lang="ko-KR" altLang="en-US" smtClean="0"/>
              <a:t>와 차이가 있어 보입니다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계산의 흐름만 보시면 되실 듯하고 좀더 정확한 값을 찾기에는 엑셀에 한계가 있어 보이고 코드로 손봐야 할 것 같습니다</a:t>
            </a:r>
            <a:r>
              <a:rPr lang="en-US" altLang="ko-KR" dirty="0" smtClean="0"/>
              <a:t>.</a:t>
            </a:r>
            <a:r>
              <a:rPr lang="ko-KR" altLang="en-US" smtClean="0"/>
              <a:t> 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7496503" y="3361697"/>
            <a:ext cx="1426779" cy="516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9490425" y="3389144"/>
            <a:ext cx="1313967" cy="5690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720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437</Words>
  <Application>Microsoft Office PowerPoint</Application>
  <PresentationFormat>와이드스크린</PresentationFormat>
  <Paragraphs>18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bikim</dc:creator>
  <cp:lastModifiedBy>bikim</cp:lastModifiedBy>
  <cp:revision>15</cp:revision>
  <dcterms:created xsi:type="dcterms:W3CDTF">2016-06-16T02:11:15Z</dcterms:created>
  <dcterms:modified xsi:type="dcterms:W3CDTF">2016-06-16T06:25:00Z</dcterms:modified>
</cp:coreProperties>
</file>