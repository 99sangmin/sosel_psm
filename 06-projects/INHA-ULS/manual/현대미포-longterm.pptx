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4" r:id="rId3"/>
    <p:sldId id="273" r:id="rId4"/>
    <p:sldId id="279" r:id="rId5"/>
    <p:sldId id="276" r:id="rId6"/>
    <p:sldId id="256" r:id="rId7"/>
    <p:sldId id="282" r:id="rId8"/>
    <p:sldId id="257" r:id="rId9"/>
    <p:sldId id="258" r:id="rId10"/>
    <p:sldId id="259" r:id="rId11"/>
    <p:sldId id="28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>
      <p:cViewPr>
        <p:scale>
          <a:sx n="100" d="100"/>
          <a:sy n="100" d="100"/>
        </p:scale>
        <p:origin x="10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15BC1-75E1-447E-BD75-D51E70A83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D310CD-E76A-4DC8-A7AE-42273BE1B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822772-D2C1-4B30-9469-C37D614C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212BEA-092A-40A2-B1FD-64A53FD2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900676-82D4-42AD-A863-3BB1FFA2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01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BB9F5-B83E-4600-98AF-8957D18F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C8361-0158-486B-B022-2F92B29F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53E17E-8178-4901-A5DB-63A194B7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813E98-01D5-4115-B12F-F3F7921D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E1574-4F87-4316-80AE-B1B184C6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2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4A933-64AF-4325-BF3A-36967D9CF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934806-332C-4F0C-8D4B-6A4A2B6B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6CBE9-7340-4A7F-B9C6-F5FA981AF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1E6EB-5621-4F9E-9F18-D72B3376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5FABB0-D453-4A1F-A423-224AB730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411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FED5E-EAA9-40D1-B490-7BF31178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AB2E3-408D-463F-83F5-57A679EBF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6A58D8-4B39-4BA5-BAB2-E2650E22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1B3C70-C1F6-4842-9B16-EE542DAE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F61B7E-673B-4FCC-839C-9A4C169A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F1F6B-FF29-424F-AE28-ABAECB4D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9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8CC70-C24A-4F2B-B15D-B9C027C9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3B9286-8304-4EDA-BD2F-0F2A8CF89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11B25C-4F15-4B27-BD90-EE3C014DA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B0B64-C18E-4232-BD8C-D3E8F8F2F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95459B-A6F6-4AFC-8039-3BC034EFA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A7A88E-332E-431E-A250-92DF85AF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F16296-413B-4D31-94CF-4C93FC0D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228D96-16E7-4069-A0A1-ECBE6A8C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98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97CC2-91E8-4E2F-8027-C40C6FB6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12BDFD-7AED-46F0-8F74-CF051C24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B0A70A-181F-4981-A1B3-65D12FD9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4E7100-34A9-48B1-98AE-CD1FCCBA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8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6B1445-2D0C-497A-B133-E4F96104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567A64-0524-4FB6-91EC-E27885C8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63C383-834F-4A87-A057-9227AA2E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5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C3E7C-1924-43BE-B4FC-1F94AF9A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B60CA2-8BEC-4B7E-A8EC-E16CB8FD8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2E4488-C630-4CC5-B025-7B27F38C0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1F5AE5-3EFD-4C0B-9C71-CD27E774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540568-ACAC-4F36-BB73-729EA941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6B90B9-36F1-4058-9F34-8DCCEE1D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42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26D60-1107-4497-8685-C373FBFA7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029501-01AA-48B8-A517-59B5C131F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390BFB-B357-4CA6-8877-65CDCB1E4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A3CD0E-CAD5-48CB-B2C9-AAAAF90D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73FAA1-C896-40FF-8BF1-21FB9E68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BD0CDB-88C7-4C05-83B6-81A1FF3F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228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E05CE-B496-4702-B64F-B15DB7FE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EE3BC7-A8B1-430C-853E-7796647BA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87CFD-F7F9-4A6E-A31D-5F96604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59ECA-F9F2-4759-A047-41EA0107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CA10D7-17D9-4601-AC09-E9657E33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8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462928-2042-460F-AC3F-CAB2A59C2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9B3D1-1D66-46D8-980D-070025404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ABAA93-1BE1-4B79-A8A5-48963335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2B8147-5EC0-4296-9A6A-D1413C74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A9A68-9E60-4E0F-9A37-632A96D9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63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D60125-D0FE-490B-AAA1-1B1AE0C0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65D0F-BA3C-4BC3-86E5-6BB47DF79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36A6E1-0B3C-4342-912F-5AA2B5E1A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9E87A-AFA9-4D77-9166-89C8F637B35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E4DB7-5641-4AF5-BD68-7A95400FC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1707B1-934F-4A3E-B91B-6A7FC0DCB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59807-45FF-48A8-86C5-033E772174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43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emf"/><Relationship Id="rId7" Type="http://schemas.openxmlformats.org/officeDocument/2006/relationships/image" Target="../media/image15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100.png"/><Relationship Id="rId7" Type="http://schemas.openxmlformats.org/officeDocument/2006/relationships/image" Target="../media/image24.em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emf"/><Relationship Id="rId11" Type="http://schemas.openxmlformats.org/officeDocument/2006/relationships/image" Target="../media/image170.png"/><Relationship Id="rId5" Type="http://schemas.openxmlformats.org/officeDocument/2006/relationships/image" Target="../media/image110.png"/><Relationship Id="rId10" Type="http://schemas.openxmlformats.org/officeDocument/2006/relationships/image" Target="../media/image26.png"/><Relationship Id="rId4" Type="http://schemas.openxmlformats.org/officeDocument/2006/relationships/image" Target="../media/image90.png"/><Relationship Id="rId9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6.emf"/><Relationship Id="rId7" Type="http://schemas.openxmlformats.org/officeDocument/2006/relationships/image" Target="../media/image29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3" Type="http://schemas.openxmlformats.org/officeDocument/2006/relationships/image" Target="../media/image30.emf"/><Relationship Id="rId7" Type="http://schemas.openxmlformats.org/officeDocument/2006/relationships/image" Target="../media/image31.emf"/><Relationship Id="rId12" Type="http://schemas.openxmlformats.org/officeDocument/2006/relationships/image" Target="../media/image34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3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3D6B0A-97E8-4CC1-8125-DC387D8386B6}"/>
              </a:ext>
            </a:extLst>
          </p:cNvPr>
          <p:cNvSpPr txBox="1"/>
          <p:nvPr/>
        </p:nvSpPr>
        <p:spPr>
          <a:xfrm>
            <a:off x="839593" y="1424970"/>
            <a:ext cx="105128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for l</a:t>
            </a:r>
            <a:r>
              <a:rPr lang="en-US" altLang="zh-C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ong-term prediction code</a:t>
            </a:r>
            <a:endParaRPr lang="ko-KR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22832" y="3356992"/>
            <a:ext cx="534633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etical Background on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Hydrodynamics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etical Background on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work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long term prediction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51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3D6B0A-97E8-4CC1-8125-DC387D8386B6}"/>
              </a:ext>
            </a:extLst>
          </p:cNvPr>
          <p:cNvSpPr txBox="1"/>
          <p:nvPr/>
        </p:nvSpPr>
        <p:spPr>
          <a:xfrm>
            <a:off x="1775520" y="3075057"/>
            <a:ext cx="9331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etical Background on </a:t>
            </a: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Hydrodynamics 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23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641C38-3664-453D-904A-17AF0102A12C}"/>
              </a:ext>
            </a:extLst>
          </p:cNvPr>
          <p:cNvSpPr txBox="1"/>
          <p:nvPr/>
        </p:nvSpPr>
        <p:spPr>
          <a:xfrm>
            <a:off x="6168008" y="3410828"/>
            <a:ext cx="4756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Governing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(Continuity condition 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010572-0356-41DE-B977-F00E113E5FD3}"/>
                  </a:ext>
                </a:extLst>
              </p:cNvPr>
              <p:cNvSpPr txBox="1"/>
              <p:nvPr/>
            </p:nvSpPr>
            <p:spPr>
              <a:xfrm>
                <a:off x="6168008" y="683404"/>
                <a:ext cx="1661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 bed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010572-0356-41DE-B977-F00E113E5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683404"/>
                <a:ext cx="1661737" cy="369332"/>
              </a:xfrm>
              <a:prstGeom prst="rect">
                <a:avLst/>
              </a:prstGeom>
              <a:blipFill>
                <a:blip r:embed="rId2"/>
                <a:stretch>
                  <a:fillRect l="-2574" t="-8197" r="-2574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2BE7E9-AF75-4645-BCD5-5DA825E6144C}"/>
                  </a:ext>
                </a:extLst>
              </p:cNvPr>
              <p:cNvSpPr txBox="1"/>
              <p:nvPr/>
            </p:nvSpPr>
            <p:spPr>
              <a:xfrm>
                <a:off x="6528048" y="3842876"/>
                <a:ext cx="2975430" cy="603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2BE7E9-AF75-4645-BCD5-5DA825E61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3842876"/>
                <a:ext cx="2975430" cy="603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C23EF5-1C36-4F45-8F98-EEB8C023C218}"/>
                  </a:ext>
                </a:extLst>
              </p:cNvPr>
              <p:cNvSpPr txBox="1"/>
              <p:nvPr/>
            </p:nvSpPr>
            <p:spPr>
              <a:xfrm>
                <a:off x="6528048" y="1052736"/>
                <a:ext cx="796693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C23EF5-1C36-4F45-8F98-EEB8C023C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1052736"/>
                <a:ext cx="796693" cy="526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D96AF2D-75ED-4882-9466-CA81AE187815}"/>
              </a:ext>
            </a:extLst>
          </p:cNvPr>
          <p:cNvSpPr txBox="1"/>
          <p:nvPr/>
        </p:nvSpPr>
        <p:spPr>
          <a:xfrm>
            <a:off x="6168008" y="332656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D6CF58-971C-4B9D-8792-4222F768E15F}"/>
                  </a:ext>
                </a:extLst>
              </p:cNvPr>
              <p:cNvSpPr txBox="1"/>
              <p:nvPr/>
            </p:nvSpPr>
            <p:spPr>
              <a:xfrm>
                <a:off x="6168008" y="1619508"/>
                <a:ext cx="2149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Body surface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D6CF58-971C-4B9D-8792-4222F768E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1619508"/>
                <a:ext cx="2149050" cy="369332"/>
              </a:xfrm>
              <a:prstGeom prst="rect">
                <a:avLst/>
              </a:prstGeom>
              <a:blipFill>
                <a:blip r:embed="rId5"/>
                <a:stretch>
                  <a:fillRect l="-1989" t="-10000" r="-1705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46A03B-1253-4AA6-BE67-194BC3A03A00}"/>
                  </a:ext>
                </a:extLst>
              </p:cNvPr>
              <p:cNvSpPr txBox="1"/>
              <p:nvPr/>
            </p:nvSpPr>
            <p:spPr>
              <a:xfrm>
                <a:off x="6528048" y="1988840"/>
                <a:ext cx="2502545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46A03B-1253-4AA6-BE67-194BC3A03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1988840"/>
                <a:ext cx="2502545" cy="526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F25DA9-9CFC-4B46-B0F3-83F79E0D2C5C}"/>
                  </a:ext>
                </a:extLst>
              </p:cNvPr>
              <p:cNvSpPr txBox="1"/>
              <p:nvPr/>
            </p:nvSpPr>
            <p:spPr>
              <a:xfrm>
                <a:off x="6168008" y="2483604"/>
                <a:ext cx="21066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surface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F25DA9-9CFC-4B46-B0F3-83F79E0D2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2483604"/>
                <a:ext cx="2106602" cy="369332"/>
              </a:xfrm>
              <a:prstGeom prst="rect">
                <a:avLst/>
              </a:prstGeom>
              <a:blipFill>
                <a:blip r:embed="rId7"/>
                <a:stretch>
                  <a:fillRect l="-2029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56FC65-95FA-4E29-83C6-60022B3111BC}"/>
                  </a:ext>
                </a:extLst>
              </p:cNvPr>
              <p:cNvSpPr txBox="1"/>
              <p:nvPr/>
            </p:nvSpPr>
            <p:spPr>
              <a:xfrm>
                <a:off x="6528048" y="2852936"/>
                <a:ext cx="165891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56FC65-95FA-4E29-83C6-60022B311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2852936"/>
                <a:ext cx="1658916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그림 37">
            <a:extLst>
              <a:ext uri="{FF2B5EF4-FFF2-40B4-BE49-F238E27FC236}">
                <a16:creationId xmlns:a16="http://schemas.microsoft.com/office/drawing/2014/main" id="{BF40AB73-F9D1-4A09-8D64-54F0956A802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74" t="468" r="642" b="906"/>
          <a:stretch/>
        </p:blipFill>
        <p:spPr>
          <a:xfrm>
            <a:off x="585926" y="1069267"/>
            <a:ext cx="5060272" cy="34800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2C0D660-B188-47FF-9903-46CEA307B793}"/>
              </a:ext>
            </a:extLst>
          </p:cNvPr>
          <p:cNvSpPr txBox="1"/>
          <p:nvPr/>
        </p:nvSpPr>
        <p:spPr>
          <a:xfrm>
            <a:off x="323557" y="267286"/>
            <a:ext cx="49430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flow theory (AQWA)</a:t>
            </a:r>
            <a:endParaRPr lang="ko-KR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595EB14-D467-4BEA-BA93-DA06DD0AAC4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15763" y="4445990"/>
            <a:ext cx="0" cy="279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33FFFE50-C685-4319-9972-EC128D624B50}"/>
                  </a:ext>
                </a:extLst>
              </p:cNvPr>
              <p:cNvSpPr/>
              <p:nvPr/>
            </p:nvSpPr>
            <p:spPr>
              <a:xfrm>
                <a:off x="7464152" y="4761226"/>
                <a:ext cx="11224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altLang="ko-K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33FFFE50-C685-4319-9972-EC128D624B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4761226"/>
                <a:ext cx="1122423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E3D337-BBA5-494F-B5B9-4A18C8C98CD2}"/>
                  </a:ext>
                </a:extLst>
              </p:cNvPr>
              <p:cNvSpPr txBox="1"/>
              <p:nvPr/>
            </p:nvSpPr>
            <p:spPr>
              <a:xfrm>
                <a:off x="7118567" y="6165566"/>
                <a:ext cx="1785745" cy="679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∬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ko-KR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E3D337-BBA5-494F-B5B9-4A18C8C98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567" y="6165566"/>
                <a:ext cx="1785745" cy="6798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C51477-6A7D-466F-A821-D41692BAD2A6}"/>
                  </a:ext>
                </a:extLst>
              </p:cNvPr>
              <p:cNvSpPr txBox="1"/>
              <p:nvPr/>
            </p:nvSpPr>
            <p:spPr>
              <a:xfrm>
                <a:off x="6744072" y="5517232"/>
                <a:ext cx="2675924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m:rPr>
                                  <m:sty m:val="p"/>
                                </m:rPr>
                                <a:rPr lang="el-GR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𝑔𝑧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C51477-6A7D-466F-A821-D41692BA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2" y="5517232"/>
                <a:ext cx="2675924" cy="5266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1FF4313-62FC-4F51-BEBB-A88A77B17AB1}"/>
              </a:ext>
            </a:extLst>
          </p:cNvPr>
          <p:cNvCxnSpPr>
            <a:cxnSpLocks/>
          </p:cNvCxnSpPr>
          <p:nvPr/>
        </p:nvCxnSpPr>
        <p:spPr>
          <a:xfrm>
            <a:off x="8015763" y="5192704"/>
            <a:ext cx="0" cy="2791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D125E4C-1921-4D42-A1BA-A5C29695DD2D}"/>
              </a:ext>
            </a:extLst>
          </p:cNvPr>
          <p:cNvSpPr txBox="1"/>
          <p:nvPr/>
        </p:nvSpPr>
        <p:spPr>
          <a:xfrm>
            <a:off x="9552384" y="5625322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Bernoulli equation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21D572-5E82-4E6A-ACD1-2BEB6B344C1D}"/>
              </a:ext>
            </a:extLst>
          </p:cNvPr>
          <p:cNvSpPr txBox="1"/>
          <p:nvPr/>
        </p:nvSpPr>
        <p:spPr>
          <a:xfrm>
            <a:off x="9552384" y="6381328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Hydrodynamic forces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14E369-7ED3-4A54-B439-D2CB53F4720E}"/>
              </a:ext>
            </a:extLst>
          </p:cNvPr>
          <p:cNvSpPr txBox="1"/>
          <p:nvPr/>
        </p:nvSpPr>
        <p:spPr>
          <a:xfrm>
            <a:off x="479376" y="5445224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</a:p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frequencies and heading angles change free surface boundary condition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98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9D7BE3-249A-498D-9B38-0DA3841D2BE8}"/>
              </a:ext>
            </a:extLst>
          </p:cNvPr>
          <p:cNvSpPr txBox="1"/>
          <p:nvPr/>
        </p:nvSpPr>
        <p:spPr>
          <a:xfrm>
            <a:off x="323557" y="267286"/>
            <a:ext cx="94936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bending moment and shear force calculation (AQWA)</a:t>
            </a:r>
            <a:endParaRPr lang="ko-KR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418889"/>
            <a:ext cx="5622565" cy="4248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C51477-6A7D-466F-A821-D41692BAD2A6}"/>
                  </a:ext>
                </a:extLst>
              </p:cNvPr>
              <p:cNvSpPr txBox="1"/>
              <p:nvPr/>
            </p:nvSpPr>
            <p:spPr>
              <a:xfrm>
                <a:off x="6744072" y="1412776"/>
                <a:ext cx="291990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l-GR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num>
                            <m:den>
                              <m:r>
                                <a:rPr lang="ko-KR" alt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ko-K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𝑔𝑧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C51477-6A7D-466F-A821-D41692BA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2" y="1412776"/>
                <a:ext cx="2919902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D125E4C-1921-4D42-A1BA-A5C29695DD2D}"/>
              </a:ext>
            </a:extLst>
          </p:cNvPr>
          <p:cNvSpPr txBox="1"/>
          <p:nvPr/>
        </p:nvSpPr>
        <p:spPr>
          <a:xfrm>
            <a:off x="9552384" y="1491451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Bernoulli equation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125E4C-1921-4D42-A1BA-A5C29695DD2D}"/>
                  </a:ext>
                </a:extLst>
              </p:cNvPr>
              <p:cNvSpPr txBox="1"/>
              <p:nvPr/>
            </p:nvSpPr>
            <p:spPr>
              <a:xfrm>
                <a:off x="6744073" y="2223182"/>
                <a:ext cx="52565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till water bending moment and shear force by static pressure term (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buoyancy) </a:t>
                </a:r>
                <a14:m>
                  <m:oMath xmlns:m="http://schemas.openxmlformats.org/officeDocument/2006/math">
                    <m:r>
                      <a:rPr lang="el-GR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𝑔𝑧</m:t>
                    </m:r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125E4C-1921-4D42-A1BA-A5C29695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2223182"/>
                <a:ext cx="5256584" cy="923330"/>
              </a:xfrm>
              <a:prstGeom prst="rect">
                <a:avLst/>
              </a:prstGeom>
              <a:blipFill>
                <a:blip r:embed="rId4"/>
                <a:stretch>
                  <a:fillRect l="-695" t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25E4C-1921-4D42-A1BA-A5C29695DD2D}"/>
                  </a:ext>
                </a:extLst>
              </p:cNvPr>
              <p:cNvSpPr txBox="1"/>
              <p:nvPr/>
            </p:nvSpPr>
            <p:spPr>
              <a:xfrm>
                <a:off x="6744073" y="3547720"/>
                <a:ext cx="5256584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 bending moment and shear force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dynamic pressure term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l-GR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num>
                          <m:den>
                            <m:r>
                              <a:rPr lang="ko-KR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ko-KR" altLang="en-US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25E4C-1921-4D42-A1BA-A5C29695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3547720"/>
                <a:ext cx="5256584" cy="783869"/>
              </a:xfrm>
              <a:prstGeom prst="rect">
                <a:avLst/>
              </a:prstGeom>
              <a:blipFill>
                <a:blip r:embed="rId5"/>
                <a:stretch>
                  <a:fillRect l="-695" t="-4651" r="-348"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69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3D6B0A-97E8-4CC1-8125-DC387D8386B6}"/>
              </a:ext>
            </a:extLst>
          </p:cNvPr>
          <p:cNvSpPr txBox="1"/>
          <p:nvPr/>
        </p:nvSpPr>
        <p:spPr>
          <a:xfrm>
            <a:off x="1124126" y="3075057"/>
            <a:ext cx="9943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etical Background on </a:t>
            </a: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ko-KR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ko-KR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7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2B5CD-1340-4D2F-8F60-25AC625BD9CF}"/>
              </a:ext>
            </a:extLst>
          </p:cNvPr>
          <p:cNvSpPr txBox="1"/>
          <p:nvPr/>
        </p:nvSpPr>
        <p:spPr>
          <a:xfrm>
            <a:off x="323557" y="267286"/>
            <a:ext cx="56283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 of Long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103222" y="900614"/>
            <a:ext cx="3973200" cy="2450867"/>
            <a:chOff x="8079844" y="705874"/>
            <a:chExt cx="3973200" cy="2450867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79844" y="705874"/>
              <a:ext cx="3973200" cy="24508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타원 12"/>
            <p:cNvSpPr/>
            <p:nvPr/>
          </p:nvSpPr>
          <p:spPr>
            <a:xfrm>
              <a:off x="8867763" y="171593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8936343" y="16321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/>
            <p:cNvSpPr/>
            <p:nvPr/>
          </p:nvSpPr>
          <p:spPr>
            <a:xfrm>
              <a:off x="9116683" y="14339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9264003" y="140605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9375763" y="16575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>
              <a:off x="9487523" y="16321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9558643" y="17083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9685643" y="16321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>
              <a:off x="9876143" y="14924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>
              <a:off x="9965043" y="161433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10064163" y="16879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10147983" y="13323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10285143" y="14924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/>
            <p:cNvSpPr/>
            <p:nvPr/>
          </p:nvSpPr>
          <p:spPr>
            <a:xfrm>
              <a:off x="10412143" y="15432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/>
            <p:cNvSpPr/>
            <p:nvPr/>
          </p:nvSpPr>
          <p:spPr>
            <a:xfrm>
              <a:off x="10483720" y="16752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/>
            <p:cNvSpPr/>
            <p:nvPr/>
          </p:nvSpPr>
          <p:spPr>
            <a:xfrm>
              <a:off x="10590460" y="14085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/>
            <p:cNvSpPr/>
            <p:nvPr/>
          </p:nvSpPr>
          <p:spPr>
            <a:xfrm>
              <a:off x="10737780" y="13831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/>
            <p:cNvSpPr/>
            <p:nvPr/>
          </p:nvSpPr>
          <p:spPr>
            <a:xfrm>
              <a:off x="10946060" y="13069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11111160" y="12053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>
              <a:off x="11248092" y="13831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11363486" y="13831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11531126" y="14924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/>
            <p:cNvSpPr/>
            <p:nvPr/>
          </p:nvSpPr>
          <p:spPr>
            <a:xfrm>
              <a:off x="11641789" y="154321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/>
            <p:cNvSpPr/>
            <p:nvPr/>
          </p:nvSpPr>
          <p:spPr>
            <a:xfrm>
              <a:off x="11758629" y="1726090"/>
              <a:ext cx="50800" cy="50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" name="직선 화살표 연결선 41"/>
          <p:cNvCxnSpPr>
            <a:stCxn id="12" idx="3"/>
            <a:endCxn id="38" idx="1"/>
          </p:cNvCxnSpPr>
          <p:nvPr/>
        </p:nvCxnSpPr>
        <p:spPr>
          <a:xfrm flipV="1">
            <a:off x="4076422" y="2126047"/>
            <a:ext cx="47795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그룹 51"/>
          <p:cNvGrpSpPr/>
          <p:nvPr/>
        </p:nvGrpSpPr>
        <p:grpSpPr>
          <a:xfrm>
            <a:off x="4554372" y="903847"/>
            <a:ext cx="3966750" cy="2444400"/>
            <a:chOff x="8080788" y="3656257"/>
            <a:chExt cx="3966750" cy="2444400"/>
          </a:xfrm>
        </p:grpSpPr>
        <p:pic>
          <p:nvPicPr>
            <p:cNvPr id="38" name="그림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80788" y="3656257"/>
              <a:ext cx="3966750" cy="2444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44" name="직선 연결선 43"/>
            <p:cNvCxnSpPr/>
            <p:nvPr/>
          </p:nvCxnSpPr>
          <p:spPr>
            <a:xfrm>
              <a:off x="10114963" y="4604372"/>
              <a:ext cx="0" cy="895927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/>
            <p:cNvSpPr/>
            <p:nvPr/>
          </p:nvSpPr>
          <p:spPr>
            <a:xfrm>
              <a:off x="9981213" y="4213684"/>
              <a:ext cx="6078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</a:t>
              </a:r>
              <a:endParaRPr lang="ko-KR" altLang="en-US" dirty="0"/>
            </a:p>
          </p:txBody>
        </p:sp>
        <p:cxnSp>
          <p:nvCxnSpPr>
            <p:cNvPr id="47" name="직선 연결선 46"/>
            <p:cNvCxnSpPr/>
            <p:nvPr/>
          </p:nvCxnSpPr>
          <p:spPr>
            <a:xfrm flipH="1">
              <a:off x="9289403" y="4398350"/>
              <a:ext cx="624840" cy="11019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 flipH="1">
              <a:off x="9464723" y="4490683"/>
              <a:ext cx="568298" cy="10096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/>
            <p:cNvCxnSpPr/>
            <p:nvPr/>
          </p:nvCxnSpPr>
          <p:spPr>
            <a:xfrm flipH="1">
              <a:off x="9635308" y="4667410"/>
              <a:ext cx="479655" cy="8328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H="1">
              <a:off x="9805893" y="4949324"/>
              <a:ext cx="309070" cy="550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/>
            <p:cNvCxnSpPr/>
            <p:nvPr/>
          </p:nvCxnSpPr>
          <p:spPr>
            <a:xfrm flipH="1">
              <a:off x="9950268" y="5224811"/>
              <a:ext cx="164695" cy="2754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/>
            <p:cNvSpPr/>
            <p:nvPr/>
          </p:nvSpPr>
          <p:spPr>
            <a:xfrm>
              <a:off x="9375763" y="5014007"/>
              <a:ext cx="6335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CDF</a:t>
              </a:r>
              <a:endParaRPr lang="ko-KR" altLang="en-US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0129673" y="5014007"/>
              <a:ext cx="5822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EPF</a:t>
              </a:r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D5B5355-8341-40C6-A377-9A665F2E6EBD}"/>
                  </a:ext>
                </a:extLst>
              </p:cNvPr>
              <p:cNvSpPr txBox="1"/>
              <p:nvPr/>
            </p:nvSpPr>
            <p:spPr>
              <a:xfrm>
                <a:off x="106695" y="3578360"/>
                <a:ext cx="7861513" cy="1562287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Calculating long term value within 20 years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Assume: wave average period is 6.3 sec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Total number of waves within 20 years: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20∗365∗24∗60∗60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6.3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101,729,032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=9.83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−9≈1.0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−8</m:t>
                      </m:r>
                    </m:oMath>
                  </m:oMathPara>
                </a14:m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D5B5355-8341-40C6-A377-9A665F2E6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5" y="3578360"/>
                <a:ext cx="7861513" cy="1562287"/>
              </a:xfrm>
              <a:prstGeom prst="rect">
                <a:avLst/>
              </a:prstGeom>
              <a:blipFill>
                <a:blip r:embed="rId4"/>
                <a:stretch>
                  <a:fillRect l="-464" t="-154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10"/>
          <p:cNvGrpSpPr/>
          <p:nvPr/>
        </p:nvGrpSpPr>
        <p:grpSpPr>
          <a:xfrm>
            <a:off x="187626" y="5301208"/>
            <a:ext cx="11669014" cy="1200329"/>
            <a:chOff x="-1934253" y="5640856"/>
            <a:chExt cx="11669014" cy="1200329"/>
          </a:xfrm>
          <a:solidFill>
            <a:schemeClr val="bg1">
              <a:lumMod val="85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69DDA1-9637-4A28-88ED-D1FC1EA688C5}"/>
                    </a:ext>
                  </a:extLst>
                </p:cNvPr>
                <p:cNvSpPr txBox="1"/>
                <p:nvPr/>
              </p:nvSpPr>
              <p:spPr>
                <a:xfrm>
                  <a:off x="2542893" y="6008335"/>
                  <a:ext cx="939937" cy="27699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69DDA1-9637-4A28-88ED-D1FC1EA68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2893" y="6008335"/>
                  <a:ext cx="93993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948" r="-1299" b="-2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-1934253" y="5640856"/>
                  <a:ext cx="11669014" cy="12003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If wave elevation process measured at interval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a14:m>
                  <a:r>
                    <a:rPr lang="ko-KR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ko-K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a short term sea state show normal distribution with zero mean and variance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frequencies ranges in barrow band, the wave amplitude (or height) statistics will obey a Rayleigh distribution. The variance approaches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ko-K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which is the first order spectral moment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ko-K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).</a:t>
                  </a:r>
                </a:p>
                <a:p>
                  <a:r>
                    <a:rPr lang="en-US" altLang="ko-K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distribution of wave amplitude (or height) for many short term sea states usually exhibit Weibull distribution.</a:t>
                  </a:r>
                  <a:endPara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34253" y="5640856"/>
                  <a:ext cx="11669014" cy="1200329"/>
                </a:xfrm>
                <a:prstGeom prst="rect">
                  <a:avLst/>
                </a:prstGeom>
                <a:blipFill>
                  <a:blip r:embed="rId6"/>
                  <a:stretch>
                    <a:fillRect l="-470" t="-3046" b="-71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3E20075-2FB3-412B-BAB4-9FFCCA6C143F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121763" y="6010183"/>
              <a:ext cx="421130" cy="136652"/>
            </a:xfrm>
            <a:prstGeom prst="straightConnector1">
              <a:avLst/>
            </a:prstGeom>
            <a:grpFill/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0A227F2-0214-4003-96C1-C7FF81222E5B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3482830" y="6002785"/>
              <a:ext cx="362682" cy="144050"/>
            </a:xfrm>
            <a:prstGeom prst="straightConnector1">
              <a:avLst/>
            </a:prstGeom>
            <a:grpFill/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D5B5355-8341-40C6-A377-9A665F2E6EBD}"/>
              </a:ext>
            </a:extLst>
          </p:cNvPr>
          <p:cNvSpPr txBox="1"/>
          <p:nvPr/>
        </p:nvSpPr>
        <p:spPr>
          <a:xfrm>
            <a:off x="8516690" y="1124744"/>
            <a:ext cx="1679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Weibull PDF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1706CE-B995-4554-A06B-BFB37745F0BE}"/>
                  </a:ext>
                </a:extLst>
              </p:cNvPr>
              <p:cNvSpPr txBox="1"/>
              <p:nvPr/>
            </p:nvSpPr>
            <p:spPr>
              <a:xfrm>
                <a:off x="8853533" y="1494075"/>
                <a:ext cx="2130647" cy="6278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1706CE-B995-4554-A06B-BFB37745F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533" y="1494075"/>
                <a:ext cx="2130647" cy="6278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797D055-5DDA-4294-8D4B-ABCFAFC19E59}"/>
                  </a:ext>
                </a:extLst>
              </p:cNvPr>
              <p:cNvSpPr txBox="1"/>
              <p:nvPr/>
            </p:nvSpPr>
            <p:spPr>
              <a:xfrm>
                <a:off x="8853533" y="2757793"/>
                <a:ext cx="2366610" cy="4710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797D055-5DDA-4294-8D4B-ABCFAFC1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533" y="2757793"/>
                <a:ext cx="2366610" cy="4710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3D68835-E20A-4057-84D0-E3843CF8AF71}"/>
                  </a:ext>
                </a:extLst>
              </p:cNvPr>
              <p:cNvSpPr txBox="1"/>
              <p:nvPr/>
            </p:nvSpPr>
            <p:spPr>
              <a:xfrm>
                <a:off x="8853533" y="3822070"/>
                <a:ext cx="1962653" cy="4710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3D68835-E20A-4057-84D0-E3843CF8A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533" y="3822070"/>
                <a:ext cx="1962653" cy="4710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8D5B5355-8341-40C6-A377-9A665F2E6EBD}"/>
              </a:ext>
            </a:extLst>
          </p:cNvPr>
          <p:cNvSpPr txBox="1"/>
          <p:nvPr/>
        </p:nvSpPr>
        <p:spPr>
          <a:xfrm>
            <a:off x="8500179" y="2386163"/>
            <a:ext cx="1705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Weibull CDF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5B5355-8341-40C6-A377-9A665F2E6EBD}"/>
              </a:ext>
            </a:extLst>
          </p:cNvPr>
          <p:cNvSpPr txBox="1"/>
          <p:nvPr/>
        </p:nvSpPr>
        <p:spPr>
          <a:xfrm>
            <a:off x="8592191" y="3452739"/>
            <a:ext cx="254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Weibull EDF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직사각형 68"/>
              <p:cNvSpPr/>
              <p:nvPr/>
            </p:nvSpPr>
            <p:spPr>
              <a:xfrm>
                <a:off x="6348093" y="2517865"/>
                <a:ext cx="4949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9" name="직사각형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93" y="2517865"/>
                <a:ext cx="494944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18E1D8-249C-4DB6-A7AD-280BEB970A80}"/>
                  </a:ext>
                </a:extLst>
              </p:cNvPr>
              <p:cNvSpPr txBox="1"/>
              <p:nvPr/>
            </p:nvSpPr>
            <p:spPr>
              <a:xfrm>
                <a:off x="106695" y="692696"/>
                <a:ext cx="7861513" cy="441723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Calculating long term value within 20 years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Assume: wave average period is 6.3 sec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Total number of waves within 20 years: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20∗365∗24∗60∗60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6.3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101,729,032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=9.83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−9≈1.0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−8</m:t>
                      </m:r>
                    </m:oMath>
                  </m:oMathPara>
                </a14:m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 2.1</a:t>
                </a:r>
              </a:p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waves: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ko-K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20∗365∗</m:t>
                        </m:r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ko-KR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∗60∗60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6.3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13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,348,571.43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𝟑𝟒𝟗𝟏</m:t>
                      </m:r>
                      <m:r>
                        <a:rPr lang="en-US" altLang="ko-KR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𝒆</m:t>
                      </m:r>
                      <m:r>
                        <a:rPr lang="en-US" altLang="ko-KR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𝟖</m:t>
                      </m:r>
                    </m:oMath>
                  </m:oMathPara>
                </a14:m>
                <a:endPara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18E1D8-249C-4DB6-A7AD-280BEB970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5" y="692696"/>
                <a:ext cx="7861513" cy="4417235"/>
              </a:xfrm>
              <a:prstGeom prst="rect">
                <a:avLst/>
              </a:prstGeom>
              <a:blipFill>
                <a:blip r:embed="rId2"/>
                <a:stretch>
                  <a:fillRect l="-619" t="-688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520298BA-0448-4033-AEE9-E52F70EEC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2276872"/>
            <a:ext cx="6934801" cy="150889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2CEE40-DD06-41A3-979E-308FD02511C7}"/>
              </a:ext>
            </a:extLst>
          </p:cNvPr>
          <p:cNvSpPr/>
          <p:nvPr/>
        </p:nvSpPr>
        <p:spPr>
          <a:xfrm>
            <a:off x="1756780" y="3149846"/>
            <a:ext cx="216024" cy="21602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D5E179-767E-4314-BA22-DA17D0E7A97E}"/>
              </a:ext>
            </a:extLst>
          </p:cNvPr>
          <p:cNvSpPr/>
          <p:nvPr/>
        </p:nvSpPr>
        <p:spPr>
          <a:xfrm>
            <a:off x="2855640" y="3149846"/>
            <a:ext cx="21602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F7332-BAA0-4FD7-A8BB-CE68230595BE}"/>
              </a:ext>
            </a:extLst>
          </p:cNvPr>
          <p:cNvSpPr/>
          <p:nvPr/>
        </p:nvSpPr>
        <p:spPr>
          <a:xfrm>
            <a:off x="5193800" y="2862462"/>
            <a:ext cx="21602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E18D06F-F386-4190-8CB8-EFF7F146B612}"/>
              </a:ext>
            </a:extLst>
          </p:cNvPr>
          <p:cNvCxnSpPr/>
          <p:nvPr/>
        </p:nvCxnSpPr>
        <p:spPr>
          <a:xfrm flipV="1">
            <a:off x="5519936" y="3068960"/>
            <a:ext cx="792088" cy="1584176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39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72B5CD-1340-4D2F-8F60-25AC625BD9CF}"/>
                  </a:ext>
                </a:extLst>
              </p:cNvPr>
              <p:cNvSpPr txBox="1"/>
              <p:nvPr/>
            </p:nvSpPr>
            <p:spPr>
              <a:xfrm>
                <a:off x="323557" y="267286"/>
                <a:ext cx="255864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Calculation</a:t>
                </a:r>
                <a:endParaRPr lang="ko-KR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72B5CD-1340-4D2F-8F60-25AC625BD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57" y="267286"/>
                <a:ext cx="2558649" cy="553998"/>
              </a:xfrm>
              <a:prstGeom prst="rect">
                <a:avLst/>
              </a:prstGeom>
              <a:blipFill>
                <a:blip r:embed="rId2"/>
                <a:stretch>
                  <a:fillRect t="-14286" r="-5238" b="-329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연결선 9"/>
          <p:cNvCxnSpPr/>
          <p:nvPr/>
        </p:nvCxnSpPr>
        <p:spPr>
          <a:xfrm>
            <a:off x="5608320" y="3317418"/>
            <a:ext cx="9675" cy="650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5617995" y="3591560"/>
            <a:ext cx="243009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361458" y="3435754"/>
                <a:ext cx="2468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458" y="3435754"/>
                <a:ext cx="246862" cy="276999"/>
              </a:xfrm>
              <a:prstGeom prst="rect">
                <a:avLst/>
              </a:prstGeom>
              <a:blipFill>
                <a:blip r:embed="rId3"/>
                <a:stretch>
                  <a:fillRect l="-10000" r="-1250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241" y="2324843"/>
                <a:ext cx="28841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41" y="2324843"/>
                <a:ext cx="2884123" cy="276999"/>
              </a:xfrm>
              <a:prstGeom prst="rect">
                <a:avLst/>
              </a:prstGeom>
              <a:blipFill>
                <a:blip r:embed="rId4"/>
                <a:stretch>
                  <a:fillRect l="-211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524582" y="1189961"/>
                <a:ext cx="2332754" cy="599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582" y="1189961"/>
                <a:ext cx="2332754" cy="599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570" y="821284"/>
            <a:ext cx="3824850" cy="249613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570" y="3986895"/>
            <a:ext cx="3844200" cy="2457334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7760" y="2362893"/>
            <a:ext cx="3837750" cy="2457334"/>
          </a:xfrm>
          <a:prstGeom prst="rect">
            <a:avLst/>
          </a:prstGeom>
        </p:spPr>
      </p:pic>
      <p:cxnSp>
        <p:nvCxnSpPr>
          <p:cNvPr id="23" name="직선 연결선 22"/>
          <p:cNvCxnSpPr/>
          <p:nvPr/>
        </p:nvCxnSpPr>
        <p:spPr>
          <a:xfrm flipH="1">
            <a:off x="9393382" y="3001818"/>
            <a:ext cx="138545" cy="4339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9311640" y="3188970"/>
            <a:ext cx="274320" cy="8324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9283493" y="3459480"/>
            <a:ext cx="345854" cy="10561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9448800" y="3804487"/>
            <a:ext cx="221673" cy="711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9601200" y="4105441"/>
            <a:ext cx="130891" cy="4102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9737679" y="4349115"/>
            <a:ext cx="56975" cy="166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/>
              <p:cNvSpPr/>
              <p:nvPr/>
            </p:nvSpPr>
            <p:spPr>
              <a:xfrm>
                <a:off x="9248067" y="3997130"/>
                <a:ext cx="567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직사각형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067" y="3997130"/>
                <a:ext cx="567720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/>
              <p:cNvSpPr/>
              <p:nvPr/>
            </p:nvSpPr>
            <p:spPr>
              <a:xfrm>
                <a:off x="110241" y="2795394"/>
                <a:ext cx="3890259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latin typeface="Cambria Math" panose="02040503050406030204" pitchFamily="18" charset="0"/>
                  </a:rPr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	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Response spectrum</a:t>
                </a:r>
                <a:endParaRPr lang="en-US" altLang="ko-KR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	Wave spectrum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	Response RAO</a:t>
                </a:r>
              </a:p>
              <a:p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	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requency</a:t>
                </a:r>
              </a:p>
              <a:p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	Wave heading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직사각형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41" y="2795394"/>
                <a:ext cx="3890259" cy="1754326"/>
              </a:xfrm>
              <a:prstGeom prst="rect">
                <a:avLst/>
              </a:prstGeom>
              <a:blipFill>
                <a:blip r:embed="rId10"/>
                <a:stretch>
                  <a:fillRect l="-1254" t="-2439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EBEB49A9-0DF4-464A-9580-19122AE23F31}"/>
                  </a:ext>
                </a:extLst>
              </p:cNvPr>
              <p:cNvSpPr/>
              <p:nvPr/>
            </p:nvSpPr>
            <p:spPr>
              <a:xfrm>
                <a:off x="8474751" y="1901309"/>
                <a:ext cx="27963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Wave heading is constant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EBEB49A9-0DF4-464A-9580-19122AE23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751" y="1901309"/>
                <a:ext cx="2796343" cy="369332"/>
              </a:xfrm>
              <a:prstGeom prst="rect">
                <a:avLst/>
              </a:prstGeom>
              <a:blipFill>
                <a:blip r:embed="rId11"/>
                <a:stretch>
                  <a:fillRect l="-654" t="-10000" r="-10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613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72B5CD-1340-4D2F-8F60-25AC625BD9CF}"/>
                  </a:ext>
                </a:extLst>
              </p:cNvPr>
              <p:cNvSpPr txBox="1"/>
              <p:nvPr/>
            </p:nvSpPr>
            <p:spPr>
              <a:xfrm>
                <a:off x="323557" y="267286"/>
                <a:ext cx="134562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3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ko-KR" sz="3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ko-KR" sz="3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72B5CD-1340-4D2F-8F60-25AC625BD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57" y="267286"/>
                <a:ext cx="134562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59" y="1486521"/>
            <a:ext cx="4689151" cy="7630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59" y="3044269"/>
            <a:ext cx="4689151" cy="7630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59" y="5781430"/>
            <a:ext cx="4689151" cy="763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5B5355-8341-40C6-A377-9A665F2E6EBD}"/>
              </a:ext>
            </a:extLst>
          </p:cNvPr>
          <p:cNvSpPr txBox="1"/>
          <p:nvPr/>
        </p:nvSpPr>
        <p:spPr>
          <a:xfrm>
            <a:off x="203197" y="1050606"/>
            <a:ext cx="4103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heading 0 with probability of 0.1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B5355-8341-40C6-A377-9A665F2E6EBD}"/>
              </a:ext>
            </a:extLst>
          </p:cNvPr>
          <p:cNvSpPr txBox="1"/>
          <p:nvPr/>
        </p:nvSpPr>
        <p:spPr>
          <a:xfrm>
            <a:off x="203197" y="2609973"/>
            <a:ext cx="432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heading 30 with probability of 0.12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B5355-8341-40C6-A377-9A665F2E6EBD}"/>
              </a:ext>
            </a:extLst>
          </p:cNvPr>
          <p:cNvSpPr txBox="1"/>
          <p:nvPr/>
        </p:nvSpPr>
        <p:spPr>
          <a:xfrm>
            <a:off x="203197" y="5316230"/>
            <a:ext cx="432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heading 180 with probability of 0.1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2900" y="3773760"/>
            <a:ext cx="2455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.</a:t>
            </a:r>
          </a:p>
          <a:p>
            <a:r>
              <a:rPr lang="en-US" altLang="ko-KR" b="1" dirty="0"/>
              <a:t>.</a:t>
            </a:r>
          </a:p>
          <a:p>
            <a:r>
              <a:rPr lang="en-US" altLang="ko-KR" b="1" dirty="0"/>
              <a:t>.</a:t>
            </a:r>
          </a:p>
          <a:p>
            <a:r>
              <a:rPr lang="en-US" altLang="ko-KR" b="1" dirty="0"/>
              <a:t>.</a:t>
            </a:r>
          </a:p>
          <a:p>
            <a:r>
              <a:rPr lang="en-US" altLang="ko-KR" b="1" dirty="0"/>
              <a:t>.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27319" y="1142939"/>
                <a:ext cx="4844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=13,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=0.5</m:t>
                          </m:r>
                        </m:e>
                      </m:d>
                    </m:oMath>
                  </m:oMathPara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319" y="1142939"/>
                <a:ext cx="4844724" cy="276999"/>
              </a:xfrm>
              <a:prstGeom prst="rect">
                <a:avLst/>
              </a:prstGeom>
              <a:blipFill>
                <a:blip r:embed="rId6"/>
                <a:stretch>
                  <a:fillRect l="-629" t="-2174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9715" y="3047466"/>
            <a:ext cx="4689151" cy="763067"/>
          </a:xfrm>
          <a:prstGeom prst="rect">
            <a:avLst/>
          </a:prstGeom>
        </p:spPr>
      </p:pic>
      <p:cxnSp>
        <p:nvCxnSpPr>
          <p:cNvPr id="14" name="꺾인 연결선 13"/>
          <p:cNvCxnSpPr>
            <a:stCxn id="4" idx="3"/>
            <a:endCxn id="12" idx="1"/>
          </p:cNvCxnSpPr>
          <p:nvPr/>
        </p:nvCxnSpPr>
        <p:spPr>
          <a:xfrm>
            <a:off x="5126410" y="1868055"/>
            <a:ext cx="2153305" cy="1560945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5" idx="3"/>
            <a:endCxn id="12" idx="1"/>
          </p:cNvCxnSpPr>
          <p:nvPr/>
        </p:nvCxnSpPr>
        <p:spPr>
          <a:xfrm>
            <a:off x="5126410" y="3425803"/>
            <a:ext cx="2153305" cy="319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6" idx="3"/>
            <a:endCxn id="12" idx="1"/>
          </p:cNvCxnSpPr>
          <p:nvPr/>
        </p:nvCxnSpPr>
        <p:spPr>
          <a:xfrm flipV="1">
            <a:off x="5126410" y="3429000"/>
            <a:ext cx="2153305" cy="2733964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4978400" y="1486521"/>
            <a:ext cx="611886" cy="4808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25" idx="2"/>
          </p:cNvCxnSpPr>
          <p:nvPr/>
        </p:nvCxnSpPr>
        <p:spPr>
          <a:xfrm flipH="1">
            <a:off x="8902014" y="2740027"/>
            <a:ext cx="266123" cy="77141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203062" y="2463028"/>
                <a:ext cx="59301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×0.1+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 ∙∙∙ +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062" y="2463028"/>
                <a:ext cx="5930150" cy="276999"/>
              </a:xfrm>
              <a:prstGeom prst="rect">
                <a:avLst/>
              </a:prstGeom>
              <a:blipFill>
                <a:blip r:embed="rId8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505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2B5CD-1340-4D2F-8F60-25AC625BD9CF}"/>
              </a:ext>
            </a:extLst>
          </p:cNvPr>
          <p:cNvSpPr txBox="1"/>
          <p:nvPr/>
        </p:nvSpPr>
        <p:spPr>
          <a:xfrm>
            <a:off x="323557" y="267286"/>
            <a:ext cx="47355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Term Value Calculation</a:t>
            </a:r>
            <a:endParaRPr lang="ko-KR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59" y="1360476"/>
            <a:ext cx="4689151" cy="763067"/>
          </a:xfrm>
          <a:prstGeom prst="rect">
            <a:avLst/>
          </a:prstGeom>
        </p:spPr>
      </p:pic>
      <p:cxnSp>
        <p:nvCxnSpPr>
          <p:cNvPr id="14" name="꺾인 연결선 13"/>
          <p:cNvCxnSpPr>
            <a:stCxn id="12" idx="2"/>
            <a:endCxn id="24" idx="1"/>
          </p:cNvCxnSpPr>
          <p:nvPr/>
        </p:nvCxnSpPr>
        <p:spPr>
          <a:xfrm rot="16200000" flipH="1">
            <a:off x="3138213" y="1767164"/>
            <a:ext cx="1161473" cy="1874229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70" y="1360475"/>
            <a:ext cx="5179351" cy="763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5B5355-8341-40C6-A377-9A665F2E6EBD}"/>
                  </a:ext>
                </a:extLst>
              </p:cNvPr>
              <p:cNvSpPr txBox="1"/>
              <p:nvPr/>
            </p:nvSpPr>
            <p:spPr>
              <a:xfrm>
                <a:off x="46180" y="884356"/>
                <a:ext cx="50256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Spectral moment considering wave heading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5B5355-8341-40C6-A377-9A665F2E6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0" y="884356"/>
                <a:ext cx="5025671" cy="369332"/>
              </a:xfrm>
              <a:prstGeom prst="rect">
                <a:avLst/>
              </a:prstGeom>
              <a:blipFill>
                <a:blip r:embed="rId4"/>
                <a:stretch>
                  <a:fillRect l="-850" t="-8197" r="-243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5B5355-8341-40C6-A377-9A665F2E6EBD}"/>
                  </a:ext>
                </a:extLst>
              </p:cNvPr>
              <p:cNvSpPr txBox="1"/>
              <p:nvPr/>
            </p:nvSpPr>
            <p:spPr>
              <a:xfrm>
                <a:off x="5902034" y="884356"/>
                <a:ext cx="3528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each sea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5B5355-8341-40C6-A377-9A665F2E6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034" y="884356"/>
                <a:ext cx="3528530" cy="369332"/>
              </a:xfrm>
              <a:prstGeom prst="rect">
                <a:avLst/>
              </a:prstGeom>
              <a:blipFill>
                <a:blip r:embed="rId5"/>
                <a:stretch>
                  <a:fillRect l="-1036" t="-8197" r="-691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D68835-E20A-4057-84D0-E3843CF8AF71}"/>
                  </a:ext>
                </a:extLst>
              </p:cNvPr>
              <p:cNvSpPr txBox="1"/>
              <p:nvPr/>
            </p:nvSpPr>
            <p:spPr>
              <a:xfrm>
                <a:off x="4656064" y="2997016"/>
                <a:ext cx="2016000" cy="57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D68835-E20A-4057-84D0-E3843CF8A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64" y="2997016"/>
                <a:ext cx="2016000" cy="57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1664" y="3817376"/>
            <a:ext cx="5184000" cy="763752"/>
          </a:xfrm>
          <a:prstGeom prst="rect">
            <a:avLst/>
          </a:prstGeom>
        </p:spPr>
      </p:pic>
      <p:cxnSp>
        <p:nvCxnSpPr>
          <p:cNvPr id="26" name="꺾인 연결선 25"/>
          <p:cNvCxnSpPr>
            <a:stCxn id="3" idx="2"/>
            <a:endCxn id="24" idx="3"/>
          </p:cNvCxnSpPr>
          <p:nvPr/>
        </p:nvCxnSpPr>
        <p:spPr>
          <a:xfrm rot="5400000">
            <a:off x="7193368" y="1602238"/>
            <a:ext cx="1161474" cy="2204082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24" idx="2"/>
            <a:endCxn id="13" idx="0"/>
          </p:cNvCxnSpPr>
          <p:nvPr/>
        </p:nvCxnSpPr>
        <p:spPr>
          <a:xfrm flipH="1">
            <a:off x="5663664" y="3573016"/>
            <a:ext cx="400" cy="2443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3" idx="2"/>
            <a:endCxn id="35" idx="0"/>
          </p:cNvCxnSpPr>
          <p:nvPr/>
        </p:nvCxnSpPr>
        <p:spPr>
          <a:xfrm flipH="1">
            <a:off x="5661892" y="4581128"/>
            <a:ext cx="1772" cy="72008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다이아몬드 34"/>
          <p:cNvSpPr/>
          <p:nvPr/>
        </p:nvSpPr>
        <p:spPr>
          <a:xfrm>
            <a:off x="4339232" y="5301208"/>
            <a:ext cx="2645319" cy="968222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/>
          <p:cNvCxnSpPr>
            <a:cxnSpLocks/>
            <a:stCxn id="35" idx="2"/>
            <a:endCxn id="30" idx="0"/>
          </p:cNvCxnSpPr>
          <p:nvPr/>
        </p:nvCxnSpPr>
        <p:spPr>
          <a:xfrm>
            <a:off x="5661892" y="6269430"/>
            <a:ext cx="1948" cy="34878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15880" y="6176812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44416" y="575211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꺾인 연결선 41"/>
          <p:cNvCxnSpPr>
            <a:cxnSpLocks/>
            <a:stCxn id="35" idx="3"/>
            <a:endCxn id="25" idx="3"/>
          </p:cNvCxnSpPr>
          <p:nvPr/>
        </p:nvCxnSpPr>
        <p:spPr>
          <a:xfrm flipH="1" flipV="1">
            <a:off x="6671839" y="2492864"/>
            <a:ext cx="312712" cy="3292455"/>
          </a:xfrm>
          <a:prstGeom prst="bentConnector3">
            <a:avLst>
              <a:gd name="adj1" fmla="val -473703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직사각형 44"/>
              <p:cNvSpPr/>
              <p:nvPr/>
            </p:nvSpPr>
            <p:spPr>
              <a:xfrm>
                <a:off x="8431452" y="3661558"/>
                <a:ext cx="11377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직사각형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52" y="3661558"/>
                <a:ext cx="1137747" cy="369332"/>
              </a:xfrm>
              <a:prstGeom prst="rect">
                <a:avLst/>
              </a:prstGeom>
              <a:blipFill>
                <a:blip r:embed="rId9"/>
                <a:stretch>
                  <a:fillRect l="-4278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315C28D-CA52-4279-AB5B-691B538DA2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5839" y="2204864"/>
                <a:ext cx="2016000" cy="57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b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315C28D-CA52-4279-AB5B-691B538DA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39" y="2204864"/>
                <a:ext cx="2016000" cy="576000"/>
              </a:xfrm>
              <a:prstGeom prst="rect">
                <a:avLst/>
              </a:prstGeom>
              <a:blipFill>
                <a:blip r:embed="rId10"/>
                <a:stretch>
                  <a:fillRect t="-10309" b="-1958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59415C0-4220-4492-B065-7F4FD9EA532B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5663839" y="2780864"/>
            <a:ext cx="225" cy="2161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DF7B775-EFF7-4B8C-93DD-8D806F7916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5840" y="6618216"/>
                <a:ext cx="2016000" cy="57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DF7B775-EFF7-4B8C-93DD-8D806F791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6618216"/>
                <a:ext cx="2016000" cy="576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37259" y="5498605"/>
                <a:ext cx="4002249" cy="573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𝐴𝐵𝑆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𝑠𝑢𝑚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sSup>
                                    <m:sSup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𝑠𝑢𝑚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sSup>
                                    <m:s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𝑠𝑢𝑚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𝑡𝑜𝑙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9" y="5498605"/>
                <a:ext cx="4002249" cy="5734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204490" y="4554420"/>
                <a:ext cx="1459630" cy="6805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𝑠𝑢𝑚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490" y="4554420"/>
                <a:ext cx="1459630" cy="6805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12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2B5CD-1340-4D2F-8F60-25AC625BD9CF}"/>
              </a:ext>
            </a:extLst>
          </p:cNvPr>
          <p:cNvSpPr txBox="1"/>
          <p:nvPr/>
        </p:nvSpPr>
        <p:spPr>
          <a:xfrm>
            <a:off x="3746185" y="9899"/>
            <a:ext cx="30283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work flow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688" y="251631"/>
            <a:ext cx="2937664" cy="369332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nvironmental condition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688" y="1821618"/>
            <a:ext cx="1088760" cy="369332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 states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446848" y="1821618"/>
            <a:ext cx="179408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frequencies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679096" y="1821618"/>
                <a:ext cx="2656753" cy="845681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Panel size determination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Panel size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ko-KR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ko-KR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 length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Dispersion relation: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𝑔𝑘</m:t>
                        </m:r>
                      </m:e>
                    </m:ra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96" y="1821618"/>
                <a:ext cx="2656753" cy="845681"/>
              </a:xfrm>
              <a:prstGeom prst="rect">
                <a:avLst/>
              </a:prstGeom>
              <a:blipFill>
                <a:blip r:embed="rId2"/>
                <a:stretch>
                  <a:fillRect l="-1831" t="-3546" b="-241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/>
          <p:cNvSpPr/>
          <p:nvPr/>
        </p:nvSpPr>
        <p:spPr>
          <a:xfrm>
            <a:off x="1552261" y="1292842"/>
            <a:ext cx="1583254" cy="369332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headings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직선 화살표 연결선 13"/>
          <p:cNvCxnSpPr>
            <a:stCxn id="8" idx="3"/>
            <a:endCxn id="9" idx="1"/>
          </p:cNvCxnSpPr>
          <p:nvPr/>
        </p:nvCxnSpPr>
        <p:spPr>
          <a:xfrm>
            <a:off x="1095448" y="2006284"/>
            <a:ext cx="351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3240929" y="2006284"/>
            <a:ext cx="4411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236482" y="1133398"/>
            <a:ext cx="2211536" cy="153390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7528" y="3068322"/>
            <a:ext cx="3589444" cy="369332"/>
          </a:xfrm>
          <a:prstGeom prst="rect">
            <a:avLst/>
          </a:prstGeom>
          <a:ln w="28575">
            <a:solidFill>
              <a:srgbClr val="FF0000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surface boundary determination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>
            <a:stCxn id="18" idx="0"/>
            <a:endCxn id="16" idx="2"/>
          </p:cNvCxnSpPr>
          <p:nvPr/>
        </p:nvCxnSpPr>
        <p:spPr>
          <a:xfrm flipV="1">
            <a:off x="2342250" y="2667299"/>
            <a:ext cx="0" cy="401023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6335849" y="2006284"/>
            <a:ext cx="4394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740953" y="251631"/>
            <a:ext cx="3531736" cy="369332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modelling in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HyperMesh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775325" y="748508"/>
            <a:ext cx="1806905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IGES file 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775325" y="1821618"/>
            <a:ext cx="1729961" cy="369332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generation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775325" y="1285176"/>
            <a:ext cx="129394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edit</a:t>
            </a:r>
          </a:p>
        </p:txBody>
      </p:sp>
      <p:cxnSp>
        <p:nvCxnSpPr>
          <p:cNvPr id="39" name="직선 화살표 연결선 38"/>
          <p:cNvCxnSpPr/>
          <p:nvPr/>
        </p:nvCxnSpPr>
        <p:spPr>
          <a:xfrm flipH="1">
            <a:off x="7678777" y="1648021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6775325" y="2369633"/>
            <a:ext cx="3063659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ABAQUS input file generation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775325" y="2906301"/>
            <a:ext cx="4524059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to AQWA input file (In-house code)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6775325" y="3451878"/>
            <a:ext cx="2223686" cy="10156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information edit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of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&amp; Inertia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Gravity &amp; water density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9111443" y="3451878"/>
            <a:ext cx="2428870" cy="10156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edit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headings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frequencies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depth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775325" y="4643274"/>
            <a:ext cx="3159968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check execution of AQWA</a:t>
            </a:r>
          </a:p>
        </p:txBody>
      </p:sp>
      <p:cxnSp>
        <p:nvCxnSpPr>
          <p:cNvPr id="63" name="꺾인 연결선 62"/>
          <p:cNvCxnSpPr>
            <a:stCxn id="55" idx="2"/>
          </p:cNvCxnSpPr>
          <p:nvPr/>
        </p:nvCxnSpPr>
        <p:spPr>
          <a:xfrm rot="5400000">
            <a:off x="8972775" y="3173542"/>
            <a:ext cx="59104" cy="264710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6775325" y="5190249"/>
            <a:ext cx="179408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 verification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9428837" y="5190249"/>
            <a:ext cx="2095445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Damping modelling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6775325" y="5731656"/>
            <a:ext cx="2736839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AQWA simulation</a:t>
            </a:r>
          </a:p>
        </p:txBody>
      </p:sp>
      <p:cxnSp>
        <p:nvCxnSpPr>
          <p:cNvPr id="76" name="직선 화살표 연결선 75"/>
          <p:cNvCxnSpPr/>
          <p:nvPr/>
        </p:nvCxnSpPr>
        <p:spPr>
          <a:xfrm flipH="1">
            <a:off x="7678777" y="1119019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 flipH="1">
            <a:off x="7678777" y="2739567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H="1">
            <a:off x="7678777" y="2197262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 flipH="1">
            <a:off x="7678777" y="3282722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/>
          <p:nvPr/>
        </p:nvCxnSpPr>
        <p:spPr>
          <a:xfrm>
            <a:off x="7678777" y="3345653"/>
            <a:ext cx="2647101" cy="110892"/>
          </a:xfrm>
          <a:prstGeom prst="bentConnector3">
            <a:avLst>
              <a:gd name="adj1" fmla="val 10008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 flipH="1">
            <a:off x="7678777" y="4472208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 flipH="1">
            <a:off x="7678777" y="5014516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/>
          <p:nvPr/>
        </p:nvCxnSpPr>
        <p:spPr>
          <a:xfrm>
            <a:off x="7678777" y="5077447"/>
            <a:ext cx="2647101" cy="110892"/>
          </a:xfrm>
          <a:prstGeom prst="bentConnector3">
            <a:avLst>
              <a:gd name="adj1" fmla="val 10008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 flipH="1">
            <a:off x="7678777" y="5557833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H="1">
            <a:off x="7678777" y="6099240"/>
            <a:ext cx="1" cy="173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6775325" y="6271315"/>
            <a:ext cx="4591385" cy="584775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files 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(*.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motion &amp; acceleration; *.PTA: Wave bending &amp; shear)</a:t>
            </a:r>
          </a:p>
        </p:txBody>
      </p:sp>
      <p:cxnSp>
        <p:nvCxnSpPr>
          <p:cNvPr id="96" name="직선 화살표 연결선 95"/>
          <p:cNvCxnSpPr/>
          <p:nvPr/>
        </p:nvCxnSpPr>
        <p:spPr>
          <a:xfrm flipH="1" flipV="1">
            <a:off x="6592163" y="6563702"/>
            <a:ext cx="17280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3866266" y="6272037"/>
            <a:ext cx="2717411" cy="584775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 term calculation code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(in-house code)</a:t>
            </a:r>
          </a:p>
        </p:txBody>
      </p:sp>
    </p:spTree>
    <p:extLst>
      <p:ext uri="{BB962C8B-B14F-4D97-AF65-F5344CB8AC3E}">
        <p14:creationId xmlns:p14="http://schemas.microsoft.com/office/powerpoint/2010/main" val="208185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5292</TotalTime>
  <Words>414</Words>
  <Application>Microsoft Office PowerPoint</Application>
  <PresentationFormat>宽屏</PresentationFormat>
  <Paragraphs>128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맑은 고딕</vt:lpstr>
      <vt:lpstr>等线</vt:lpstr>
      <vt:lpstr>Arial</vt:lpstr>
      <vt:lpstr>Cambria Math</vt:lpstr>
      <vt:lpstr>Times New Roman</vt:lpstr>
      <vt:lpstr>Wingdings</vt:lpstr>
      <vt:lpstr>Office 테마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LICHUNBAO</dc:creator>
  <cp:lastModifiedBy>李春宝</cp:lastModifiedBy>
  <cp:revision>191</cp:revision>
  <dcterms:created xsi:type="dcterms:W3CDTF">2019-11-08T08:43:09Z</dcterms:created>
  <dcterms:modified xsi:type="dcterms:W3CDTF">2025-12-08T13:51:25Z</dcterms:modified>
</cp:coreProperties>
</file>